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png" ContentType="image/png"/>
  <Override PartName="/ppt/media/image3.jpeg" ContentType="image/jpeg"/>
  <Override PartName="/ppt/media/image4.png" ContentType="image/png"/>
  <Override PartName="/ppt/media/image5.jpeg" ContentType="image/jpeg"/>
  <Override PartName="/ppt/media/image6.jpeg" ContentType="image/jpeg"/>
  <Override PartName="/ppt/media/image9.png" ContentType="image/png"/>
  <Override PartName="/ppt/media/image7.jpeg" ContentType="image/jpeg"/>
  <Override PartName="/ppt/media/media8.mp4" ContentType="video/mp4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CO" sz="1800" spc="-1" strike="noStrike">
                <a:solidFill>
                  <a:schemeClr val="dk1"/>
                </a:solidFill>
                <a:latin typeface="Aptos"/>
              </a:rPr>
              <a:t>Pulse para desplazar la diapositiva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CO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CO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3A41085-541E-4879-A21E-76EF90DF3D07}" type="slidenum"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s-CO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A0B0D4-5C27-45C7-9C89-873B34DF91ED}" type="slidenum">
              <a:rPr b="0" lang="es-CO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C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82E869-EA6D-4B5E-BF75-9EAE9796C0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2E4B04-6354-4FC1-9DF3-20A8597874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BD767F8-FAEE-4783-87AE-485682FAA2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CO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E1B5DB4-D1B2-4E11-84ED-DCC6B05BE7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D99AF7A-4158-4737-86DA-3295C802B0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CO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s-CO" sz="2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F68D382-E9CC-4832-921F-E862539506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064DC9B-97A9-4308-90D9-FFDAE7E433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60E6EA7-E962-4B92-BD33-0D673523BC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B7C86EB-2897-44C8-BA72-BEBAA3BD9D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A67D81D-4E4C-4C0D-B1D9-1A18013C96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344BFB8-4975-4872-8988-EB779BD238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Haga clic </a:t>
            </a: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para </a:t>
            </a: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modificar el </a:t>
            </a: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estilo de </a:t>
            </a: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título del </a:t>
            </a: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patrón</a:t>
            </a:r>
            <a:endParaRPr b="0" lang="es-CO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72FEA5-48F7-4B00-919D-E5AEA61DE758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800" spc="-1" strike="noStrike">
                <a:solidFill>
                  <a:schemeClr val="dk1"/>
                </a:solidFill>
                <a:latin typeface="Aptos"/>
              </a:rPr>
              <a:t>Pulse para editar el </a:t>
            </a:r>
            <a:r>
              <a:rPr b="0" lang="es-CO" sz="2800" spc="-1" strike="noStrike">
                <a:solidFill>
                  <a:schemeClr val="dk1"/>
                </a:solidFill>
                <a:latin typeface="Aptos"/>
              </a:rPr>
              <a:t>formato de texto del </a:t>
            </a:r>
            <a:r>
              <a:rPr b="0" lang="es-CO" sz="2800" spc="-1" strike="noStrike">
                <a:solidFill>
                  <a:schemeClr val="dk1"/>
                </a:solidFill>
                <a:latin typeface="Aptos"/>
              </a:rPr>
              <a:t>esquema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Segundo nivel del 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chemeClr val="dk1"/>
                </a:solidFill>
                <a:latin typeface="Aptos"/>
              </a:rPr>
              <a:t>Tercer nivel del esquema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chemeClr val="dk1"/>
                </a:solidFill>
                <a:latin typeface="Aptos"/>
              </a:rPr>
              <a:t>Cuarto nivel del </a:t>
            </a:r>
            <a:r>
              <a:rPr b="0" lang="es-CO" sz="1800" spc="-1" strike="noStrike">
                <a:solidFill>
                  <a:schemeClr val="dk1"/>
                </a:solidFill>
                <a:latin typeface="Aptos"/>
              </a:rPr>
              <a:t>esquema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Quinto nivel del </a:t>
            </a: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Sexto nivel del </a:t>
            </a: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Séptimo </a:t>
            </a: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nivel del </a:t>
            </a: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14B074-27FB-48E1-9E73-69053806E83A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3D3CB7-C1EF-4376-B79D-0263C4B1FD57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887E2E-C040-4DBB-9D2B-B354744399A6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60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Haga clic para modificar los estilos de texto del patrón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026165-90B5-4D22-A840-9911EB95BA77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BE9EB0-5B9B-487E-95DB-5568F50287E9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ES" sz="24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127251-8E97-4BB6-BEB5-3AC4A3A9782A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44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15BDBE-73BB-4325-AECC-3DECB52ED300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79FEC1-DA83-466A-88A8-4D2FC0EDD547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CO" sz="1800" spc="-1" strike="noStrike">
                <a:solidFill>
                  <a:schemeClr val="dk1"/>
                </a:solidFill>
                <a:latin typeface="Aptos"/>
              </a:rPr>
              <a:t>Pulse para editar el formato del texto de título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800" spc="-1" strike="noStrike">
                <a:solidFill>
                  <a:schemeClr val="dk1"/>
                </a:solidFill>
                <a:latin typeface="Aptos"/>
              </a:rPr>
              <a:t>Pulse para editar el formato de texto del esquema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Segundo nivel del 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1800" spc="-1" strike="noStrike">
                <a:solidFill>
                  <a:schemeClr val="dk1"/>
                </a:solidFill>
                <a:latin typeface="Aptos"/>
              </a:rPr>
              <a:t>Tercer nivel del esquema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1800" spc="-1" strike="noStrike">
                <a:solidFill>
                  <a:schemeClr val="dk1"/>
                </a:solidFill>
                <a:latin typeface="Aptos"/>
              </a:rPr>
              <a:t>Cuarto nivel del esquema</a:t>
            </a:r>
            <a:endParaRPr b="0" lang="es-CO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Quinto nivel del 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Sexto nivel del 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solidFill>
                  <a:schemeClr val="dk1"/>
                </a:solidFill>
                <a:latin typeface="Aptos"/>
              </a:rPr>
              <a:t>Séptimo nivel del esquema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32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800" spc="-1" strike="noStrike">
                <a:solidFill>
                  <a:schemeClr val="dk1"/>
                </a:solidFill>
                <a:latin typeface="Aptos"/>
              </a:rPr>
              <a:t>Segundo nivel</a:t>
            </a:r>
            <a:endParaRPr b="0" lang="es-CO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Tercer nivel</a:t>
            </a:r>
            <a:endParaRPr b="0" lang="es-CO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Cuarto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Quinto nivel</a:t>
            </a:r>
            <a:endParaRPr b="0" lang="es-CO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33723D-5A90-45E6-BF18-AF2E515C0176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ES" sz="3200" spc="-1" strike="noStrike">
                <a:solidFill>
                  <a:schemeClr val="dk1"/>
                </a:solidFill>
                <a:latin typeface="Aptos Display"/>
              </a:rPr>
              <a:t>Haga clic para modificar el estilo de título del patrón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chemeClr val="dk1"/>
                </a:solidFill>
                <a:latin typeface="Aptos"/>
              </a:rPr>
              <a:t>Pulse para editar el formato de texto del esquema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3200" spc="-1" strike="noStrike">
                <a:solidFill>
                  <a:schemeClr val="dk1"/>
                </a:solidFill>
                <a:latin typeface="Aptos"/>
              </a:rPr>
              <a:t>Segundo nivel del esquema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chemeClr val="dk1"/>
                </a:solidFill>
                <a:latin typeface="Aptos"/>
              </a:rPr>
              <a:t>Tercer nivel del esquema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CO" sz="3200" spc="-1" strike="noStrike">
                <a:solidFill>
                  <a:schemeClr val="dk1"/>
                </a:solidFill>
                <a:latin typeface="Aptos"/>
              </a:rPr>
              <a:t>Cuarto nivel del esquema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chemeClr val="dk1"/>
                </a:solidFill>
                <a:latin typeface="Aptos"/>
              </a:rPr>
              <a:t>Quinto nivel del esquema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chemeClr val="dk1"/>
                </a:solidFill>
                <a:latin typeface="Aptos"/>
              </a:rPr>
              <a:t>Sexto nivel del esquema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solidFill>
                  <a:schemeClr val="dk1"/>
                </a:solidFill>
                <a:latin typeface="Aptos"/>
              </a:rPr>
              <a:t>Séptimo nivel del esquema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Haga clic para modificar los estilos de texto del patrón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&lt;fecha/hora&gt;</a:t>
            </a:r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C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CO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C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F228D4-9F83-45E3-BA62-C2CF95F09637}" type="slidenum">
              <a:rPr b="0" lang="es-CO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&lt;número&gt;</a:t>
            </a:fld>
            <a:endParaRPr b="0" lang="es-CO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10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 useBgFill="1">
        <p:nvSpPr>
          <p:cNvPr id="75" name="Rectangle 10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400" y="4218840"/>
            <a:ext cx="11167200" cy="2089080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algn="tl" blurRad="50760" dir="2700000" dist="37674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51560" y="4495320"/>
            <a:ext cx="3611520" cy="153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s-CO" sz="3200" spc="-1" strike="noStrike">
                <a:solidFill>
                  <a:schemeClr val="dk1"/>
                </a:solidFill>
                <a:latin typeface="Aptos Display"/>
              </a:rPr>
              <a:t>Reclutamiento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 </a:t>
            </a:r>
            <a:r>
              <a:rPr b="0" lang="es-CR" sz="3200" spc="-1" strike="noStrike">
                <a:solidFill>
                  <a:schemeClr val="dk1"/>
                </a:solidFill>
                <a:latin typeface="Aptos Display"/>
              </a:rPr>
              <a:t>Infantil</a:t>
            </a: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 </a:t>
            </a:r>
            <a:endParaRPr b="0" lang="es-CO" sz="32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77" name="Picture 6" descr="EL RECLUTAMIENTO FORZADO DE MENORES SIGUE TRUNCANDO LOS SUEÑOS DE LAS/LOS  NIÑOS/AS Y JÓVENES EN COLOMBIA - Fundepaz"/>
          <p:cNvPicPr/>
          <p:nvPr/>
        </p:nvPicPr>
        <p:blipFill>
          <a:blip r:embed="rId1"/>
          <a:srcRect l="0" t="5030" r="0" b="0"/>
          <a:stretch/>
        </p:blipFill>
        <p:spPr>
          <a:xfrm>
            <a:off x="0" y="0"/>
            <a:ext cx="12191760" cy="3994200"/>
          </a:xfrm>
          <a:prstGeom prst="rect">
            <a:avLst/>
          </a:prstGeom>
          <a:ln w="0">
            <a:noFill/>
          </a:ln>
        </p:spPr>
      </p:pic>
      <p:sp>
        <p:nvSpPr>
          <p:cNvPr id="78" name="Rectangle 10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320" y="4911480"/>
            <a:ext cx="127800" cy="703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9" name="Rectangle 10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4243680" y="5254200"/>
            <a:ext cx="1462680" cy="18000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5295960" y="4495320"/>
            <a:ext cx="6060600" cy="153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Integrantes: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  <a:p>
            <a:pPr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Cristian Florez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  <a:p>
            <a:pPr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Bryan Mora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  <a:p>
            <a:pPr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Aptos"/>
              </a:rPr>
              <a:t>Geraldine Basto</a:t>
            </a:r>
            <a:endParaRPr b="0" lang="es-CO" sz="15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1" name="Straight Connector 10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65080" y="4811400"/>
            <a:ext cx="737280" cy="360"/>
          </a:xfrm>
          <a:prstGeom prst="straightConnector1">
            <a:avLst/>
          </a:prstGeom>
          <a:ln w="57150">
            <a:solidFill>
              <a:srgbClr val="0f9ed5"/>
            </a:solidFill>
          </a:ln>
        </p:spPr>
      </p:cxnSp>
    </p:spTree>
  </p:cSld>
  <p:transition spd="med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20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5250960" cy="180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04" lnSpcReduction="20000"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CO" sz="3700" spc="-1" strike="noStrike">
                <a:solidFill>
                  <a:schemeClr val="dk1"/>
                </a:solidFill>
                <a:latin typeface="Aptos"/>
                <a:ea typeface="Aptos"/>
              </a:rPr>
              <a:t>Introducción al Reclutamiento Infantil</a:t>
            </a:r>
            <a:br>
              <a:rPr sz="3700"/>
            </a:br>
            <a:endParaRPr b="0" lang="es-CO" sz="37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00360"/>
            <a:ext cx="4619160" cy="453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s-ES" sz="1600" spc="-1" strike="noStrike">
                <a:solidFill>
                  <a:schemeClr val="dk1"/>
                </a:solidFill>
                <a:latin typeface="Aptos"/>
              </a:rPr>
              <a:t>Definición: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 El reclutamiento infantil es el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uso de menores de 18 años en conflictos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armados, grupos violentos o actividades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ilegales.       Pueden ser obligados a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desempeñar roles como combatientes,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espías, mensajeros o incluso ser explotados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sexualmente.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Causas principales: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 Factores como la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pobreza, los conflictos bélicos, la falta de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acceso a educación y la descomposición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social contribuyen al reclutamiento de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niños y niñas.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Impacto en la infancia: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 Los niños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reclutados sufren violencia extrema, abuso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físico y psicológico, y ven vulnerados sus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derechos fundamentales, como la 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  <a:ea typeface="Aptos"/>
              </a:rPr>
              <a:t>educación y la seguridad.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3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3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3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3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3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" name="Picture 3"/>
          <p:cNvSpPr/>
          <p:nvPr/>
        </p:nvSpPr>
        <p:spPr>
          <a:xfrm>
            <a:off x="6229080" y="0"/>
            <a:ext cx="5962320" cy="6857640"/>
          </a:xfrm>
          <a:custGeom>
            <a:avLst/>
            <a:gdLst>
              <a:gd name="textAreaLeft" fmla="*/ 0 w 5962320"/>
              <a:gd name="textAreaRight" fmla="*/ 5962680 w 596232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Imagen 4"/>
          <p:cNvSpPr/>
          <p:nvPr/>
        </p:nvSpPr>
        <p:spPr>
          <a:xfrm>
            <a:off x="4928760" y="5040000"/>
            <a:ext cx="2631240" cy="197604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30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838080" y="900360"/>
            <a:ext cx="4962240" cy="527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1064"/>
          </a:bodyPr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Actores principales:</a:t>
            </a:r>
            <a:r>
              <a:rPr b="0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 Fuerzas armadas estatales, grupos insurgentes, pandillas y organizaciones criminales.</a:t>
            </a:r>
            <a:endParaRPr b="0" lang="es-CO" sz="5500" spc="-1" strike="noStrike">
              <a:solidFill>
                <a:schemeClr val="dk1"/>
              </a:solidFill>
              <a:latin typeface="Aptos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Métodos de reclutamiento:</a:t>
            </a:r>
            <a:r>
              <a:rPr b="0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 Amenazas, secuestros, manipulación ideológica, promesas de protección y sustento económico.</a:t>
            </a:r>
            <a:endParaRPr b="0" lang="es-CO" sz="5500" spc="-1" strike="noStrike">
              <a:solidFill>
                <a:schemeClr val="dk1"/>
              </a:solidFill>
              <a:latin typeface="Aptos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Motivaciones de los reclutadores:</a:t>
            </a:r>
            <a:r>
              <a:rPr b="0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 Uso de niños por su vulnerabilidad, facilidad de manipulación y menor costo en conflictos.</a:t>
            </a:r>
            <a:endParaRPr b="0" lang="es-CO" sz="5500" spc="-1" strike="noStrike">
              <a:solidFill>
                <a:schemeClr val="dk1"/>
              </a:solidFill>
              <a:latin typeface="Aptos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Efectos a largo plazo:</a:t>
            </a:r>
            <a:r>
              <a:rPr b="0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 Secuelas psicológicas severas (estrés postraumático, depresión), impacto en el desarrollo social y físico, dificultad para la reintegración.</a:t>
            </a:r>
            <a:endParaRPr b="0" lang="es-CO" sz="5500" spc="-1" strike="noStrike">
              <a:solidFill>
                <a:schemeClr val="dk1"/>
              </a:solidFill>
              <a:latin typeface="Aptos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Symbol" charset="2"/>
              <a:buChar char=""/>
              <a:tabLst>
                <a:tab algn="l" pos="457200"/>
              </a:tabLst>
            </a:pPr>
            <a:r>
              <a:rPr b="1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Situación legal:</a:t>
            </a:r>
            <a:r>
              <a:rPr b="0" lang="es-CO" sz="5500" spc="-1" strike="noStrike">
                <a:solidFill>
                  <a:schemeClr val="dk1"/>
                </a:solidFill>
                <a:latin typeface="Aptos"/>
                <a:ea typeface="Aptos"/>
              </a:rPr>
              <a:t> Prohibiciones establecidas en tratados internacionales (Convención sobre los Derechos del Niño, Protocolo Facultativo, Estatuto de Roma).</a:t>
            </a:r>
            <a:endParaRPr b="0" lang="es-CO" sz="55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457200"/>
              </a:tabLst>
            </a:pPr>
            <a:endParaRPr b="0" lang="es-CO" sz="15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" name="Picture 4"/>
          <p:cNvSpPr/>
          <p:nvPr/>
        </p:nvSpPr>
        <p:spPr>
          <a:xfrm>
            <a:off x="6225840" y="900360"/>
            <a:ext cx="5965920" cy="5957280"/>
          </a:xfrm>
          <a:custGeom>
            <a:avLst/>
            <a:gdLst>
              <a:gd name="textAreaLeft" fmla="*/ 0 w 5965920"/>
              <a:gd name="textAreaRight" fmla="*/ 5966280 w 5965920"/>
              <a:gd name="textAreaTop" fmla="*/ 0 h 5957280"/>
              <a:gd name="textAreaBottom" fmla="*/ 5957640 h 5957280"/>
            </a:gdLst>
            <a:ahLst/>
            <a:rect l="textAreaLeft" t="textAreaTop" r="textAreaRight" b="textAreaBottom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C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!!Ova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3440" y="1656000"/>
            <a:ext cx="545760" cy="54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1" name="!!Ar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4560" y="587520"/>
            <a:ext cx="2987640" cy="2987640"/>
          </a:xfrm>
          <a:prstGeom prst="arc">
            <a:avLst>
              <a:gd name="adj1" fmla="val 15817365"/>
              <a:gd name="adj2" fmla="val 1781380"/>
            </a:avLst>
          </a:prstGeom>
          <a:noFill/>
          <a:ln cap="rnd" w="127000">
            <a:solidFill>
              <a:srgbClr val="0f9ed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ransition spd="med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3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7000" cy="6857640"/>
          </a:xfrm>
          <a:custGeom>
            <a:avLst/>
            <a:gdLst>
              <a:gd name="textAreaLeft" fmla="*/ 0 w 4167000"/>
              <a:gd name="textAreaRight" fmla="*/ 4167360 w 41670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6880" y="1153440"/>
            <a:ext cx="3200040" cy="446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CO" sz="4400" spc="-1" strike="noStrike">
                <a:solidFill>
                  <a:srgbClr val="ffffff"/>
                </a:solidFill>
                <a:latin typeface="Aptos Display"/>
              </a:rPr>
              <a:t>Estadísticas Globales</a:t>
            </a:r>
            <a:br>
              <a:rPr sz="4400"/>
            </a:br>
            <a:endParaRPr b="0" lang="es-CO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" name="Arc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5200"/>
            <a:ext cx="4083120" cy="408312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0f9ed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447440" y="591480"/>
            <a:ext cx="6906240" cy="55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s-ES" sz="2200" spc="-1" strike="noStrike">
                <a:solidFill>
                  <a:schemeClr val="dk1"/>
                </a:solidFill>
                <a:latin typeface="Aptos"/>
              </a:rPr>
              <a:t>Cifras actuales: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Aproximadamente 250,000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niños soldados en todo el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mundo (según UNICEF y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Amnistía Internacional).</a:t>
            </a:r>
            <a:endParaRPr b="0" lang="es-CO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s-ES" sz="2200" spc="-1" strike="noStrike">
                <a:solidFill>
                  <a:schemeClr val="dk1"/>
                </a:solidFill>
                <a:latin typeface="Aptos"/>
              </a:rPr>
              <a:t>Regiones más afectadas: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 África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Central y Occidental, Medio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Oriente, Asia y América Latina.</a:t>
            </a:r>
            <a:endParaRPr b="0" lang="es-CO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s-ES" sz="2200" spc="-1" strike="noStrike">
                <a:solidFill>
                  <a:schemeClr val="dk1"/>
                </a:solidFill>
                <a:latin typeface="Aptos"/>
              </a:rPr>
              <a:t>Diferencias de género: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 Aunque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la mayoría son niños, un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porcentaje significativo de niñas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también es reclutado, muchas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veces con fines de explotación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sexual.</a:t>
            </a:r>
            <a:endParaRPr b="0" lang="es-CO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s-ES" sz="2200" spc="-1" strike="noStrike">
                <a:solidFill>
                  <a:schemeClr val="dk1"/>
                </a:solidFill>
                <a:latin typeface="Aptos"/>
              </a:rPr>
              <a:t>Tendencias: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 Incremento en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conflictos recientes (Siria,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Yemen, Afganistán), aunque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programas de desmovilización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han reducido cifras en algunos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países.</a:t>
            </a:r>
            <a:endParaRPr b="0" lang="es-CO" sz="22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s-ES" sz="2200" spc="-1" strike="noStrike">
                <a:solidFill>
                  <a:schemeClr val="dk1"/>
                </a:solidFill>
                <a:latin typeface="Aptos"/>
              </a:rPr>
              <a:t>Casos recientes: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 Datos sobre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niños utilizados en conflictos en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Sudán del Sur, República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Democrática del Congo y </a:t>
            </a:r>
            <a:r>
              <a:rPr b="0" lang="es-ES" sz="2200" spc="-1" strike="noStrike">
                <a:solidFill>
                  <a:schemeClr val="dk1"/>
                </a:solidFill>
                <a:latin typeface="Aptos"/>
              </a:rPr>
              <a:t>Myanmar.</a:t>
            </a:r>
            <a:endParaRPr b="0" lang="es-CO" sz="22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s-CO" sz="22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97" name="Imagen 4" descr=""/>
          <p:cNvPicPr/>
          <p:nvPr/>
        </p:nvPicPr>
        <p:blipFill>
          <a:blip r:embed="rId1"/>
          <a:stretch/>
        </p:blipFill>
        <p:spPr>
          <a:xfrm>
            <a:off x="-489240" y="4238640"/>
            <a:ext cx="4656240" cy="2619000"/>
          </a:xfrm>
          <a:prstGeom prst="rect">
            <a:avLst/>
          </a:prstGeom>
          <a:ln cap="sq" w="190500">
            <a:solidFill>
              <a:srgbClr val="ffffff"/>
            </a:solidFill>
            <a:miter/>
          </a:ln>
          <a:effectLst>
            <a:outerShdw algn="tl" blurRad="65160" dir="12889470" dist="50432" kx="195000" ky="145000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dir="t" rig="twoP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transition spd="med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89680" y="856080"/>
            <a:ext cx="4560120" cy="112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6604"/>
          </a:bodyPr>
          <a:p>
            <a:pPr indent="0" defTabSz="914400">
              <a:lnSpc>
                <a:spcPct val="90000"/>
              </a:lnSpc>
              <a:buNone/>
            </a:pPr>
            <a:r>
              <a:rPr b="1" lang="es-CO" sz="2500" spc="-1" strike="noStrike">
                <a:solidFill>
                  <a:schemeClr val="dk1"/>
                </a:solidFill>
                <a:latin typeface="Aptos Display"/>
              </a:rPr>
              <a:t>Mapas del Reclutamiento Infantil</a:t>
            </a:r>
            <a:br>
              <a:rPr sz="2500"/>
            </a:br>
            <a:endParaRPr b="0" lang="es-CO" sz="2500" spc="-1" strike="noStrike">
              <a:solidFill>
                <a:schemeClr val="dk1"/>
              </a:solidFill>
              <a:latin typeface="Aptos"/>
            </a:endParaRPr>
          </a:p>
        </p:txBody>
      </p:sp>
      <p:grpSp>
        <p:nvGrpSpPr>
          <p:cNvPr id="100" name="Group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083600"/>
            <a:ext cx="354960" cy="673200"/>
            <a:chOff x="0" y="1083600"/>
            <a:chExt cx="354960" cy="673200"/>
          </a:xfrm>
        </p:grpSpPr>
        <p:sp>
          <p:nvSpPr>
            <p:cNvPr id="101" name="Rectangle 1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083600"/>
              <a:ext cx="87120" cy="67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  <p:sp>
          <p:nvSpPr>
            <p:cNvPr id="102" name="Rectangl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59480" y="1083600"/>
              <a:ext cx="195480" cy="673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Aptos"/>
              </a:endParaRPr>
            </a:p>
          </p:txBody>
        </p:sp>
      </p:grpSp>
      <p:sp>
        <p:nvSpPr>
          <p:cNvPr id="103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664200" y="2090520"/>
            <a:ext cx="4297320" cy="2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590760" y="2330640"/>
            <a:ext cx="4559040" cy="397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Regiones con mayor reclutamiento infantil: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África: RDC (</a:t>
            </a:r>
            <a:r>
              <a:rPr b="0" lang="es-CO" sz="1600" spc="-1" strike="noStrike">
                <a:solidFill>
                  <a:schemeClr val="dk1"/>
                </a:solidFill>
                <a:latin typeface="Aptos"/>
              </a:rPr>
              <a:t>República Democrática del Congo)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, Somalia, Sudán del Sur; 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Asia: Afganistán, Myanmar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 </a:t>
            </a: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América Latina: Colombia, Venezuela.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1600" spc="-1" strike="noStrike">
                <a:solidFill>
                  <a:schemeClr val="dk1"/>
                </a:solidFill>
                <a:latin typeface="Aptos"/>
              </a:rPr>
              <a:t>Son los países con más denuncias documentadas según informes de la ONU.</a:t>
            </a:r>
            <a:endParaRPr b="0" lang="es-CO" sz="1600" spc="-1" strike="noStrike">
              <a:solidFill>
                <a:schemeClr val="dk1"/>
              </a:solidFill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s-CO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5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0697760" y="0"/>
            <a:ext cx="1494000" cy="6857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6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85840" y="513720"/>
            <a:ext cx="6009120" cy="5834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107" name="Imagen 4" descr="Imagen que contiene Diagrama&#10;&#10;El contenido generado por IA puede ser incorrecto."/>
          <p:cNvPicPr/>
          <p:nvPr/>
        </p:nvPicPr>
        <p:blipFill>
          <a:blip r:embed="rId1"/>
          <a:srcRect l="0" t="67" r="6" b="0"/>
          <a:stretch/>
        </p:blipFill>
        <p:spPr>
          <a:xfrm>
            <a:off x="5977800" y="799200"/>
            <a:ext cx="5425200" cy="5258880"/>
          </a:xfrm>
          <a:prstGeom prst="rect">
            <a:avLst/>
          </a:prstGeom>
          <a:ln w="0">
            <a:noFill/>
          </a:ln>
        </p:spPr>
      </p:pic>
    </p:spTree>
  </p:cSld>
  <p:transition spd="med"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09" name="Rectangl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16200000">
            <a:off x="2666880" y="-2666160"/>
            <a:ext cx="6857640" cy="12191040"/>
          </a:xfrm>
          <a:prstGeom prst="rect">
            <a:avLst/>
          </a:prstGeom>
          <a:gradFill rotWithShape="0">
            <a:gsLst>
              <a:gs pos="8000">
                <a:srgbClr val="156082"/>
              </a:gs>
              <a:gs pos="100000">
                <a:srgbClr val="0b3041"/>
              </a:gs>
            </a:gsLst>
            <a:lin ang="15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0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10800000">
            <a:off x="-2160" y="360"/>
            <a:ext cx="9070560" cy="6857280"/>
          </a:xfrm>
          <a:prstGeom prst="rect">
            <a:avLst/>
          </a:prstGeom>
          <a:gradFill rotWithShape="0">
            <a:gsLst>
              <a:gs pos="8000">
                <a:srgbClr val="000000">
                  <a:alpha val="52000"/>
                </a:srgbClr>
              </a:gs>
              <a:gs pos="100000">
                <a:srgbClr val="156082"/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111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rot="16200000">
            <a:off x="3649680" y="-1685520"/>
            <a:ext cx="4894200" cy="12193200"/>
          </a:xfrm>
          <a:prstGeom prst="rect">
            <a:avLst/>
          </a:prstGeom>
          <a:gradFill rotWithShape="0">
            <a:gsLst>
              <a:gs pos="0">
                <a:srgbClr val="d86ecc">
                  <a:alpha val="0"/>
                </a:srgbClr>
              </a:gs>
              <a:gs pos="100000">
                <a:srgbClr val="000000">
                  <a:alpha val="46000"/>
                </a:srgbClr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ptos"/>
            </a:endParaRPr>
          </a:p>
        </p:txBody>
      </p:sp>
      <p:pic>
        <p:nvPicPr>
          <p:cNvPr id="112" name="Imagen 6" descr="Mapa&#10;&#10;El contenido generado por IA puede ser incorrecto."/>
          <p:cNvPicPr/>
          <p:nvPr/>
        </p:nvPicPr>
        <p:blipFill>
          <a:blip r:embed="rId1"/>
          <a:stretch/>
        </p:blipFill>
        <p:spPr>
          <a:xfrm>
            <a:off x="457200" y="990360"/>
            <a:ext cx="11277360" cy="4877280"/>
          </a:xfrm>
          <a:prstGeom prst="rect">
            <a:avLst/>
          </a:prstGeom>
          <a:ln w="0">
            <a:noFill/>
          </a:ln>
        </p:spPr>
      </p:pic>
    </p:spTree>
  </p:cSld>
  <p:transition spd="med">
    <p:wipe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152360" y="0"/>
            <a:ext cx="14563440" cy="6857640"/>
          </a:xfrm>
          <a:prstGeom prst="rect">
            <a:avLst/>
          </a:prstGeom>
          <a:ln w="0">
            <a:noFill/>
          </a:ln>
        </p:spPr>
      </p:pic>
    </p:spTree>
  </p:cSld>
  <p:transition spd="med">
    <p:wipe dir="l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14" fill="hold"/>
                                        <p:tgtEl>
                                          <p:spTgt spid="1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113"/>
                </p:tgtEl>
              </p:cMediaNode>
            </p:video>
            <p:seq>
              <p:cTn id="7" restart="whenNotActive" nodeType="interactiveSeq" fill="hold">
                <p:stCondLst>
                  <p:cond delay="0" evt="onClick">
                    <p:tgtEl>
                      <p:spTgt spid="113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113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adroTexto 1"/>
          <p:cNvSpPr/>
          <p:nvPr/>
        </p:nvSpPr>
        <p:spPr>
          <a:xfrm>
            <a:off x="1514520" y="3059640"/>
            <a:ext cx="8362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s-MX" sz="3600" spc="-1" strike="noStrike">
                <a:solidFill>
                  <a:schemeClr val="dk1"/>
                </a:solidFill>
                <a:latin typeface="Aptos Display"/>
              </a:rPr>
              <a:t>¡GRACIAS POR LA ATENCION PRESTADA!</a:t>
            </a:r>
            <a:endParaRPr b="0" lang="es-CO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transition spd="med" advTm="0">
    <p:wipe dir="l"/>
  </p:transition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nodeType="clickEffect" fill="hold" presetClass="entr" presetID="6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ircle(in)" transition="in">
                                      <p:cBhvr additive="repl">
                                        <p:cTn id="18" dur="20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Application>LibreOffice/24.2.7.2$Linux_X86_64 LibreOffice_project/420$Build-2</Application>
  <AppVersion>15.0000</AppVersion>
  <Words>393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2025-03-25T23:40:56Z</dcterms:created>
  <dc:creator>Geraldine Basto Silva</dc:creator>
  <dc:description/>
  <dc:language>es-CO</dc:language>
  <cp:lastModifiedBy/>
  <dcterms:modified xsi:type="dcterms:W3CDTF">2025-04-11T14:26:31Z</dcterms:modified>
  <cp:revision>5</cp:revision>
  <dc:subject/>
  <dc:title>Reclutamiento Infantil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1</vt:i4>
  </property>
  <property fmtid="{D5CDD505-2E9C-101B-9397-08002B2CF9AE}" pid="4" name="PresentationFormat">
    <vt:lpwstr>Panorámica</vt:lpwstr>
  </property>
  <property fmtid="{D5CDD505-2E9C-101B-9397-08002B2CF9AE}" pid="5" name="Slides">
    <vt:i4>8</vt:i4>
  </property>
</Properties>
</file>